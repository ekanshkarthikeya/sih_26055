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DEFENSE RESEARCH &amp; DEVELOPMENT ORGANISATION (DRDO)</a:t>
            </a:r>
          </a:p>
          <a:p>
            <a:pPr>
              <a:spcAft>
                <a:spcPts val="1200"/>
              </a:spcAft>
              <a:defRPr sz="3200" b="1">
                <a:solidFill>
                  <a:srgbClr val="F1F5F9"/>
                </a:solidFill>
              </a:defRPr>
            </a:pPr>
            <a:r>
              <a:t>Smart Scan Strategy for Electronic Warfare (ES) Receivers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Slew-Regularized Restless Multi-Armed Bandit (RMAB) Scheduling with Sub-Microsecond RTOS Compliance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Problem Statement ID: 26055  |  Team Smart Scan  |  Aggregate Intercept Gain: 79.03% P_int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The Tactical Problem Statement (DRDO 26055)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Passive ES &amp; RWR Mission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Passive radar warning receivers (RWR) must detect, intercept, and classify hostile emissions.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Operate entirely silently to protect own platform stealth.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Must build a real-time Electronic Order of Battle (EOB) under dense signal clutter.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ACC15"/>
                </a:solidFill>
              </a:defRPr>
            </a:pPr>
            <a:r>
              <a:t>The Bandwidth Dilemma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Threat spectrum spans 0.5 GHz to 18 GHz (UHF Early Warning to Ku-band Fire Control).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Instantaneous Receiver Bandwidth (B_inst) is strictly limited to 500 MHz - 1 GHz.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The spectrum must be partitioned into K = 16 discrete sub-bands.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Listening to Band 1 leaves Bands 2-16 entirely deaf.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7171"/>
                </a:solidFill>
              </a:defRPr>
            </a:pPr>
            <a:r>
              <a:t>The Tactical Stakes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Modern AESA &amp; LPI radars emit brief microsecond bursts with 1%-5% duty cycles.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Missing high-priority fire-control illuminations leads to undetected missile locks.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Requires intelligent scheduling to outpace agile adversaries.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Failure Analysis of Legacy Scanning Paradigms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7171"/>
                </a:solidFill>
              </a:defRPr>
            </a:pPr>
            <a:r>
              <a:t>1. Deterministic Round-Robin Sweep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Sequential stepping (0 -&gt; 1 -&gt; ... -&gt; K-1) designed for 1970s analog CW radars.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Against 1%-5% duty cycle AESA radars, capture probability is bounded by duty cycle (~4.3%).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Over 95.6% of hostile pulses slip entirely through inter-sweep blind periods.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F87171"/>
                </a:solidFill>
              </a:defRPr>
            </a:pPr>
            <a:r>
              <a:t>2. Uniform Random Search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Memoryless stochastic jumping prevents predictability but ignores historical data.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Maximizes synthesizer Phase-Locked Loop (PLL) settling dead-time.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Wastes up to 42% of mission time in blanking transitions.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ACC15"/>
                </a:solidFill>
              </a:defRPr>
            </a:pPr>
            <a:r>
              <a:t>3. Pure Greedy (Max-Belief Camping Trap)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Always selects the channel with the highest instantaneous pulse count.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Camps on a single loud emitter, starving the remaining 15 sub-bands for up to 5,870 ms.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Drops overall emitter situational awareness down to 33.3%.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600" b="1">
                <a:solidFill>
                  <a:srgbClr val="FACC15"/>
                </a:solidFill>
              </a:defRPr>
            </a:pPr>
            <a:r>
              <a:t>4. ε-Greedy / Unconstrained Exploration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Random exploration steps cause wideband frequency jumps (e.g., Band 0 to 15).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Incurs maximum 45 µs PLL lock penalty, resulting in severe blanking dead-time.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Fails to balance exploration utility against hardware tuning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Modeling Real-World RF Hardware Physics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Synthesizer Slew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Voltage-Controlled Oscillators (VCOs) and YIG synthesizers require charge-pump settling time.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Retuning is not instantaneous; physical voltage shifts take finite microseconds.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Ignoring slew physics causes simulated algorithms to fail in physical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ACC15"/>
                </a:solidFill>
              </a:defRPr>
            </a:pPr>
            <a:r>
              <a:t>Logarithmic Penalty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Settling time scales logarithmically with hop distance: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t_settle = 5.0 + 12.0 · log2(1 + |Δk|) µs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Adjacent tuning takes ~5 µs; full 16-band hops take up to 45 µs.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Front-end must be blanked during settling to prevent false alarms.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Noise &amp; Pd Modeling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Thermal noise floor (kTBF) dictates receiver sensitivity.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Swerling target fluctuation models simulate cross-section fades.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Binomial masking injects Pd &lt; 1.0 (15%-30% pulse loss) to ensure robust filtering.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Mathematical Core: Bayesian Restless Bandits (RMAB)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7171"/>
                </a:solidFill>
              </a:defRPr>
            </a:pPr>
            <a:r>
              <a:t>Why RMAB over Deep RL?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Non-Stationary Adversaries: Offline neural networks suffer catastrophic distribution shifts against unfamiliar hopping or jittered PRIs.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Deterministic Guarantees: DRDO mandates hard worst-case latency bounds (≤ 60 ms starvation), which black-box deep learning cannot guarantee.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Microsecond Inference: Analytical Bayesian updates execute in microseconds, ideal for embedded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DE80"/>
                </a:solidFill>
              </a:defRPr>
            </a:pPr>
            <a:r>
              <a:t>Conjugate Beta-Bernoulli Updates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Zero-Prior Initialization: Maintains expected belief E[θ] = α / (α + β) for each sub-band.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Hit Rule (h &gt; 0): α_k ← α_k + min(h, 10.0), rapidly driving belief toward 1.0.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Step-on-Miss (h = 0): β_k ← β_k + 2.0, instantly suppressing belief to vacate empty channels.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Markovian Aging: Unvisited bands decay smoothly (α, β × 0.995) to model uncertainty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The Slew-Regularized Whittle Index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463040"/>
          </a:xfrm>
          <a:prstGeom prst="roundRect">
            <a:avLst/>
          </a:prstGeom>
          <a:solidFill>
            <a:srgbClr val="1C2331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I_k(t) = [E[θ_k] + T_hop(k)] · Φ_k(t) · [1 + 0.8·ln(1+C_k)] + λ · ((t - τ_k) / τ_max) - κ · log2(1 + |Δk|)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Fuses Bayesian belief, cross-band frequency hop prediction, temporal burst periodicity, track density, strict anti-starvation bounds, and physical synthesizer blanking penalties into a single microsecond decision metric.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2468880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ACC15"/>
                </a:solidFill>
              </a:defRPr>
            </a:pPr>
            <a:r>
              <a:t>E[θ_k] + T_hop(k)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Bayesian Belief &amp; Hopping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Tracks active emitter probability and leverages online Markov transition matrices to pre-tune ahead of agile frequency hoppers.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383280"/>
            <a:ext cx="2468880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520440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ACC15"/>
                </a:solidFill>
              </a:defRPr>
            </a:pPr>
            <a:r>
              <a:t>Φ_k(t) Kernel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Temporal Recurrence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Gaussian probability spike modeling pulse repetition phase to predict exact arrival timing of periodic radar bursts.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2468880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520440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ACC15"/>
                </a:solidFill>
              </a:defRPr>
            </a:pPr>
            <a:r>
              <a:t>λ · (t - τ_k) / τ_max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Anti-Starvation Bound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Linear urgency inflation. As starvation nears τ_max = 60 ms, index approaches +∞, enforcing DRDO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383280"/>
            <a:ext cx="2468880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3520440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ACC15"/>
                </a:solidFill>
              </a:defRPr>
            </a:pPr>
            <a:r>
              <a:t>- κ · log2(1 + |Δk|)</a:t>
            </a:r>
          </a:p>
          <a:p>
            <a:pPr>
              <a:spcAft>
                <a:spcPts val="600"/>
              </a:spcAft>
              <a:defRPr sz="1100" b="1">
                <a:solidFill>
                  <a:srgbClr val="F1F5F9"/>
                </a:solidFill>
              </a:defRPr>
            </a:pPr>
            <a:r>
              <a:t>Synthesizer Penalty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Subtracts utility for distant frequency jumps, restricting wide slews unless justified by high-threat reward.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Real-Time Signal Processing &amp; O(1) Memory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7171"/>
                </a:solidFill>
              </a:defRPr>
            </a:pPr>
            <a:r>
              <a:t>O(1) Static Circular Ring Buffers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OS Heap Limitation: Standard dynamic lists (malloc/vector) cause heap fragmentation and Garbage Collection latency spikes (10-50 ms pauses) on RTOS.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Static Pre-Allocation: Allocates fixed memory buffers (N = 2048) exactly once at system boot.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Modulo Pointer Arithmetic: idx = (head + i) % capacity guarantees strict O(1) insertion time.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Graceful Degradation: Automatically drops oldest pulses during extreme jamming bursts to preserve microkernel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DE80"/>
                </a:solidFill>
              </a:defRPr>
            </a:pPr>
            <a:r>
              <a:t>SDIF De-interleaving &amp; Threat Classification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Multi-Order Time Differences: Computes Δti(d) = ToA(i+d) - ToA(i) with exponential discounting (0.85^(d-1)) to extract true PRIs.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Harmonic Cancellation: Mathematically tests candidate peaks and discards integer-ratio sub-harmonics (2x, 3x) within ±5% tolerance.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MIL-STD Threat Mapping: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  - PRF &gt; 4000 Hz: Fire Control / Missile Guidance (CRITICAL)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  - 1000-4000 Hz: Acquisition &amp; Tracking (HIGH)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  - PRF &lt; 1000 Hz: Surveillance / Early Warning (MEDIUM)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Empirical Validation: 3,693,275 Pulses Across 23 Splits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Scheduling Strategy</a:t>
                      </a:r>
                    </a:p>
                  </a:txBody>
                  <a:tcPr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Macro Mean P_int</a:t>
                      </a:r>
                    </a:p>
                  </a:txBody>
                  <a:tcPr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Median P_int</a:t>
                      </a:r>
                    </a:p>
                  </a:txBody>
                  <a:tcPr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Aggregate Weighted P_int</a:t>
                      </a:r>
                    </a:p>
                  </a:txBody>
                  <a:tcPr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Win Rate vs RMAB</a:t>
                      </a:r>
                    </a:p>
                  </a:txBody>
                  <a:tcPr>
                    <a:solidFill>
                      <a:srgbClr val="1C233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Round-Robin (Legacy 1970s)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4.30%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4.37%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4.38%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 / 23 (0.0%)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Uniform Random Search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3.55%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3.52%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3.61%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0 / 23 (0.0%)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Pure Greedy (Max-Belief)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37.76%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20.38%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47.68%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9 / 23 (39.1%)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ε-Greedy (ε = 0.15)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43.59%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42.79%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60.41%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</a:defRPr>
                      </a:pPr>
                      <a:r>
                        <a:t>3 / 23 (13.0%)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Adaptive Bayesian RMAB (Ours)</a:t>
                      </a:r>
                    </a:p>
                  </a:txBody>
                  <a:tcPr>
                    <a:solidFill>
                      <a:srgbClr val="153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59.10%</a:t>
                      </a:r>
                    </a:p>
                  </a:txBody>
                  <a:tcPr>
                    <a:solidFill>
                      <a:srgbClr val="153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64.00%</a:t>
                      </a:r>
                    </a:p>
                  </a:txBody>
                  <a:tcPr>
                    <a:solidFill>
                      <a:srgbClr val="153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79.03%</a:t>
                      </a:r>
                    </a:p>
                  </a:txBody>
                  <a:tcPr>
                    <a:solidFill>
                      <a:srgbClr val="153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1F5F9"/>
                          </a:solidFill>
                        </a:defRPr>
                      </a:pPr>
                      <a:r>
                        <a:t>— (Baseline)</a:t>
                      </a:r>
                    </a:p>
                  </a:txBody>
                  <a:tcPr>
                    <a:solidFill>
                      <a:srgbClr val="153C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Operational Guarantees: Starvation &amp; Emitter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Strict Starvation Bound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Target Revisit Ceiling: Strictly bounded at τ_max = 60.0 ms across all operational scenarios.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Observed Peak: Maximum channel starvation across all 3.69M pulses peaked at 58.6 ms (mean 19.9 ms).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Zero Violations: Exactly 0 out of 23 test splits exceeded the mandatory DRDO starvation limit.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7171"/>
                </a:solidFill>
              </a:defRPr>
            </a:pPr>
            <a:r>
              <a:t>Exposing the Greedy Fallacy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Pure Greedy appears to score high raw pulse P_int on volume-heavy splits by camping on a single loud emitter.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Catastrophic Collapse: In 7 major splits, Pure Greedy collapsed below 8% (dropping to 0.24% in test_11).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RMAB Stability: Delivers robust 56%-85% P_int across all splits without ever failing.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Situational Awareness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Emitter Coverage: Maintained a macro mean emitter discovery rate of 75.65% across all 989 test emitters.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No Blind Spots: Prevents channel abandonment, ensuring secondary threat tracks are audited continuously.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Balanced Tradeoff: Maximizes pulse capture while maintaining complete air picture.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Embedded RTOS Feasibility &amp; Hardware Profiling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Measured Python Benchmark (10,000 Dwells)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Action Selection (select_action): 19.2 µs mean (24.1 µs at 99th percentile).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Posterior Update (update_beliefs): 6.4 µs mean (8.2 µs at 99th percentile).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Total Decision Cycle: ~25.6 µs total execution time.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Timing Headroom: Leaves a robust 42.2% safety margin within a standard 45 µs hardware dwell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DE80"/>
                </a:solidFill>
              </a:defRPr>
            </a:pPr>
            <a:r>
              <a:t>Embedded Hardware Translation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POSIX Resource Manager: Translating core math to compiled C in a microkernel architecture (e.g., QNX Neutrino) reduces cycle time to &lt; 1.2 µs.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FPGA Synthesis: Fixed-point RTL implementation on a Xilinx Zynq UltraScale+ RFSoC executes parallel index evaluation in &lt; 180 ns.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Hard Real-Time: Zero dynamic memory allocations guarantee deterministic execution deadlines for military avionics.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Tactical Cockpit &amp; C2 Interoperability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Streamlit Command Center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Unified Dashboard: Complete operational control without command-line overhead.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Interactive Visualizations: Real-time electromagnetic waterfall display overlaying LO scan trajectories.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Polar RWR Scope: 360° Plan Position Indicator color-coding threat lethality.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DE80"/>
                </a:solidFill>
              </a:defRPr>
            </a:pPr>
            <a:r>
              <a:t>System Healthcheck Suite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Pre-Flight Verification: Automated unit testing verifying HDF5 integrity and belief convergence.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Circular Buffer Audits: Confirms O(1) ring buffer stability and SDIF extraction.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Regression Control: Guarantees zero runtime faults before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ACC15"/>
                </a:solidFill>
              </a:defRPr>
            </a:pPr>
            <a:r>
              <a:t>STANAG 4607 &amp; EOB Export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NATO Standardization: Instantaneous export of de-interleaved tracks into STANAG 4607 JSON.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Tactical CSV Reports: Complete Electronic Order of Battle (EOB) tables for operator review.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EA Handoff: Seamless target handoff to Electronic Attack (EA) countermeasures.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369A1"/>
                </a:solidFill>
              </a:defRPr>
            </a:pPr>
            <a:r>
              <a:t>DRDO EW SMART SCAN | PROBLEM STATEMENT 26055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Conclusion: DRDO Problem Statement 26055 Solved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DE80"/>
                </a:solidFill>
              </a:defRPr>
            </a:pPr>
            <a:r>
              <a:t>Core Accomplishments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79.03% Aggregate Intercept Probability across 3.69M Turing pulses (18x baseline gain over Round-Robin).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Strict Starvation Compliance: 100% adherence to the mandatory ≤ 60 ms revisit limit (observed peak 58.6 ms).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RTOS-Ready Firmware: Zero heap allocations with O(1) static circular buffers and graceful buffer degradation.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Deliverable Assets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Fully Tested Codebase: Modular architecture with config.yaml parametrization and strict type-hinting.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Tactical Command Cockpit: Streamlit UI with multi-split benchmarking and live RWR scopes.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Comprehensive Documentation: 50+ page technical thesis and master viva voce compendium ready for jury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